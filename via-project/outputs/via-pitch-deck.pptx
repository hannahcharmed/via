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PRE-SEED  ·  APRIL 2026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45720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0" i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8000" dirty="0"/>
          </a:p>
        </p:txBody>
      </p:sp>
      <p:sp>
        <p:nvSpPr>
          <p:cNvPr id="4" name="Text 2"/>
          <p:cNvSpPr/>
          <p:nvPr/>
        </p:nvSpPr>
        <p:spPr>
          <a:xfrm>
            <a:off x="548640" y="3246120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i="1" dirty="0">
                <a:solidFill>
                  <a:srgbClr val="FDF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by way of trust.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3840480"/>
            <a:ext cx="6583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4D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three-sided marketplace where creators, stay owners, and travelers exchange influence for access.</a:t>
            </a:r>
            <a:endParaRPr lang="en-US" sz="1400" dirty="0"/>
          </a:p>
        </p:txBody>
      </p:sp>
      <p:pic>
        <p:nvPicPr>
          <p:cNvPr id="6" name="Image 0" descr="/sessions/adoring-modest-cray/deck/assets/sunset-stri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4754880"/>
            <a:ext cx="1828800" cy="548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content-for-stay market runs on cold DMs and lost threads.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AE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CREATORS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Pitch into the void.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32461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 of DMs, no templates, no tracking. No way to prove audience fit before the "no."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3756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AE2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STAY OWNERS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6616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Drowning in unfit asks.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566160" y="32461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Inboxes flooded with creators who will never convert. No signal on audience, no deliverable follow-through.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219456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EAE2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5080" y="23317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TRAVELERS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2606040"/>
            <a:ext cx="2194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don't scale trust.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355080" y="3246120"/>
            <a:ext cx="21945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want the place their favorite creator actually stayed at — not the one with the most 5-star reviews.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Creators are the new travel agents.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the plumbing underneath them is still duct tape.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788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31520" y="3520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Gen Z travelers say creators influenced their last trip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42336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Phocuswright, 2024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633472" y="260604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16352" y="2788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816352" y="3520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short-term rental and boutique stay market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816352" y="42336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Skift + AirDNA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8304" y="260604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01184" y="2788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3.5x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901184" y="3520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intent lift from a creator endorsement vs. ad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901184" y="42336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MediaKix meta-analysis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803136" y="2606040"/>
            <a:ext cx="1965960" cy="1965960"/>
          </a:xfrm>
          <a:prstGeom prst="roundRect">
            <a:avLst>
              <a:gd name="adj" fmla="val 5581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86016" y="2788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2M+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86016" y="3520440"/>
            <a:ext cx="1600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mid-tier travel creators with 10K–500K followers globally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86016" y="4233672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HypeAuditor 2025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 turns content-for-stay into a marketplace.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9525">
            <a:solidFill>
              <a:srgbClr val="EAE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BROKEN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822960" y="2651760"/>
            <a:ext cx="137160" cy="0"/>
          </a:xfrm>
          <a:prstGeom prst="line">
            <a:avLst/>
          </a:prstGeom>
          <a:noFill/>
          <a:ln w="19050">
            <a:solidFill>
              <a:srgbClr val="958B7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249631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 pitch in cold DMs, one-by-one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" y="3127248"/>
            <a:ext cx="137160" cy="0"/>
          </a:xfrm>
          <a:prstGeom prst="line">
            <a:avLst/>
          </a:prstGeom>
          <a:noFill/>
          <a:ln w="19050">
            <a:solidFill>
              <a:srgbClr val="958B7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29718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comp stays with no deliverable proof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60" y="3602736"/>
            <a:ext cx="137160" cy="0"/>
          </a:xfrm>
          <a:prstGeom prst="line">
            <a:avLst/>
          </a:prstGeom>
          <a:noFill/>
          <a:ln w="19050">
            <a:solidFill>
              <a:srgbClr val="958B7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447288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book on strangers' reviews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22960" y="4078224"/>
            <a:ext cx="137160" cy="0"/>
          </a:xfrm>
          <a:prstGeom prst="line">
            <a:avLst/>
          </a:prstGeom>
          <a:noFill/>
          <a:ln w="19050">
            <a:solidFill>
              <a:srgbClr val="958B7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922776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can measure what a stay actually earned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617720" y="1965960"/>
            <a:ext cx="3977640" cy="2651760"/>
          </a:xfrm>
          <a:prstGeom prst="roundRect">
            <a:avLst>
              <a:gd name="adj" fmla="val 4138"/>
            </a:avLst>
          </a:prstGeom>
          <a:solidFill>
            <a:srgbClr val="15110D"/>
          </a:solidFill>
          <a:ln w="12700">
            <a:solidFill>
              <a:srgbClr val="15110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21945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E8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VIA SHIPS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92040" y="2651760"/>
            <a:ext cx="82296" cy="8229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2496312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inbox with audience-fit scoring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892040" y="3127248"/>
            <a:ext cx="82296" cy="8229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74920" y="29718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tracker with approval gates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92040" y="3602736"/>
            <a:ext cx="82296" cy="8229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3447288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Creator-curated discovery for travelers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892040" y="4078224"/>
            <a:ext cx="82296" cy="8229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74920" y="3922776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commission on every booking back to the creator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enter as the CRM for content trades.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 the operational surface first. Marketplace follows the data.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221992"/>
            <a:ext cx="36576" cy="457200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14884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Match-fit scoring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450592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application is ranked by audience-fit — not just follower count.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3063240"/>
            <a:ext cx="36576" cy="457200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990088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Deliverable tracker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32918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don't get comped without proof. Every post has an approval gate.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904488"/>
            <a:ext cx="36576" cy="457200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831336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Owner-first UX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31520" y="4133088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Gmail folders, Notion trackers, and "did they ever post?" spreadsheets.</a:t>
            </a:r>
            <a:endParaRPr lang="en-US" sz="1150" dirty="0"/>
          </a:p>
        </p:txBody>
      </p:sp>
      <p:pic>
        <p:nvPicPr>
          <p:cNvPr id="17" name="Image 0" descr="/sessions/adoring-modest-cray/deck/assets/phone-inbox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1554480"/>
            <a:ext cx="1737360" cy="320040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17804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owner inbox.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ranked by fit.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Flywheel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sides, one loop.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097280" y="1920240"/>
            <a:ext cx="2194560" cy="2194560"/>
          </a:xfrm>
          <a:prstGeom prst="ellipse">
            <a:avLst/>
          </a:prstGeom>
          <a:solidFill>
            <a:srgbClr val="F0DD8C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5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apply, post, earn commissions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0" y="1920240"/>
            <a:ext cx="2194560" cy="2194560"/>
          </a:xfrm>
          <a:prstGeom prst="ellipse">
            <a:avLst/>
          </a:prstGeom>
          <a:solidFill>
            <a:srgbClr val="F5D4BA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0" y="251460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5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OWNERS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0" y="2880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list, curate, measure reach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74720" y="2743200"/>
            <a:ext cx="2194560" cy="2194560"/>
          </a:xfrm>
          <a:prstGeom prst="ellipse">
            <a:avLst/>
          </a:prstGeom>
          <a:solidFill>
            <a:srgbClr val="E4D4B7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33375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5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0" y="37033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discover, book, trust the creator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37560" y="2331720"/>
            <a:ext cx="2514600" cy="0"/>
          </a:xfrm>
          <a:prstGeom prst="line">
            <a:avLst/>
          </a:prstGeom>
          <a:noFill/>
          <a:ln w="22225">
            <a:solidFill>
              <a:srgbClr val="D88A54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566160" y="196596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852160" y="3931920"/>
            <a:ext cx="-1280160" cy="502920"/>
          </a:xfrm>
          <a:prstGeom prst="line">
            <a:avLst/>
          </a:prstGeom>
          <a:noFill/>
          <a:ln w="22225">
            <a:solidFill>
              <a:srgbClr val="D88A54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4937760" y="42062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520440" y="4434840"/>
            <a:ext cx="-1280160" cy="-502920"/>
          </a:xfrm>
          <a:prstGeom prst="line">
            <a:avLst/>
          </a:prstGeom>
          <a:noFill/>
          <a:ln w="22225">
            <a:solidFill>
              <a:srgbClr val="D88A54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2057400" y="42062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89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booking pays the creator whose content surfaced it — so creators keep curating, owners keep listing, travelers keep trusting.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Creators become the shelf.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Airbnb sorts by reviews, Via sorts by who you trust.</a:t>
            </a:r>
            <a:endParaRPr lang="en-US" sz="1600" dirty="0"/>
          </a:p>
        </p:txBody>
      </p:sp>
      <p:pic>
        <p:nvPicPr>
          <p:cNvPr id="8" name="Image 0" descr="/sessions/adoring-modest-cray/deck/assets/phone-discov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057400"/>
            <a:ext cx="1737360" cy="27432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880360" y="214884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324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Follow-graph discovery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06324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Travelers see stays featured by creators they already follow.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943600" y="214884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26480" y="228600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Creator-curated collections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26480" y="260604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creator becomes a storefront of vetted stays.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880360" y="342900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063240" y="3566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Commission transparency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06324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"Supports @camille · 10%" is shown in the price — not buried in fine print.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943600" y="342900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DF8DD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26480" y="356616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Two-sided reputation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26480" y="38862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 rate creators. Creators rate owners. Travelers see both.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Monetization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revenue lines, all aligned.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2057400"/>
            <a:ext cx="36576" cy="640080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2240280" y="2039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TAKE RATE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40280" y="230428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traveler booking. Creator earns it back; Via keeps 10% of that cut.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926080"/>
            <a:ext cx="36576" cy="640080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88036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$9.99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240280" y="2907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(CREATOR)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40280" y="317296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applications + priority review + enhanced analytics. Free tier = 1 application / month.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36576" cy="640080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74904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2240280" y="37764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LIFT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240280" y="4041648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creators earn a higher share on bookings they drive — from 10% → 15%.</a:t>
            </a:r>
            <a:endParaRPr lang="en-US" sz="1100" dirty="0"/>
          </a:p>
        </p:txBody>
      </p:sp>
      <p:pic>
        <p:nvPicPr>
          <p:cNvPr id="19" name="Image 0" descr="/sessions/adoring-modest-cray/deck/assets/phone-commiss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600200"/>
            <a:ext cx="2103120" cy="306324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309360" y="470916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Creator sees the money. The loop compounds.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on two of the biggest consumer markets.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914400" y="2057400"/>
            <a:ext cx="3108960" cy="3108960"/>
          </a:xfrm>
          <a:prstGeom prst="ellipse">
            <a:avLst/>
          </a:prstGeom>
          <a:solidFill>
            <a:srgbClr val="FDF8DD"/>
          </a:solidFill>
          <a:ln w="12700">
            <a:solidFill>
              <a:srgbClr val="F5D4B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17320" y="2560320"/>
            <a:ext cx="2103120" cy="2103120"/>
          </a:xfrm>
          <a:prstGeom prst="ellipse">
            <a:avLst/>
          </a:prstGeom>
          <a:solidFill>
            <a:srgbClr val="F5D4BA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3017520"/>
            <a:ext cx="1188720" cy="1188720"/>
          </a:xfrm>
          <a:prstGeom prst="ellipse">
            <a:avLst/>
          </a:prstGeom>
          <a:solidFill>
            <a:srgbClr val="E8A574"/>
          </a:solidFill>
          <a:ln w="12700">
            <a:solidFill>
              <a:srgbClr val="D88A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341071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3648456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$240M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2651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15110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14400" y="216712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011680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120640" y="21031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715000" y="20574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$500B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120640" y="239572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short-term + boutique stays market.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20640" y="267004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Skift, AirDNA 2024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029200" y="3017520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20640" y="3108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71500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120640" y="340156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Influencer-driven travel spend in NA + EU.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120640" y="367588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3.5x booking-intent lift × 74% of Gen Z influence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4023360"/>
            <a:ext cx="3657600" cy="896112"/>
          </a:xfrm>
          <a:prstGeom prst="round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AE2C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20640" y="4114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715000" y="40690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$240M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120640" y="44074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3-yr: 2M creators × 1.2 bookings/mo × €100 avg × 10%.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120640" y="4681728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Bottom-up, conservative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46320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D88A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Founder–problem fit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128016" cy="128016"/>
          </a:xfrm>
          <a:prstGeom prst="ellipse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86868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Cierra. Why now.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2743200" cy="2651760"/>
          </a:xfrm>
          <a:prstGeom prst="roundRect">
            <a:avLst>
              <a:gd name="adj" fmla="val 5172"/>
            </a:avLst>
          </a:prstGeom>
          <a:solidFill>
            <a:srgbClr val="E4D4B7"/>
          </a:solidFill>
          <a:ln w="9525">
            <a:solidFill>
              <a:srgbClr val="C9A7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880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248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Portrait ]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4069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Cierra Bellamy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300" kern="0" dirty="0">
                <a:solidFill>
                  <a:srgbClr val="524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0" y="2011680"/>
            <a:ext cx="36576" cy="749808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0" y="19659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Founder of Charmed Collective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840480" y="2286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— years running the agency, number of creators managed, brand deals closed. 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0" y="2926080"/>
            <a:ext cx="36576" cy="749808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0" y="28803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Lived the problem daily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840480" y="32004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— e.g., "personally ran 200+ content-for-stay trades across Airbnb + boutique hotels before building Via." ]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0" y="3840480"/>
            <a:ext cx="36576" cy="749808"/>
          </a:xfrm>
          <a:prstGeom prst="rect">
            <a:avLst/>
          </a:prstGeom>
          <a:solidFill>
            <a:srgbClr val="E8A574"/>
          </a:solidFill>
          <a:ln w="12700">
            <a:solidFill>
              <a:srgbClr val="E8A57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0" y="379476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110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Network on both sides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840480" y="41148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958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Placeholder — warm intros to [N] creators and [N] stay operators ready to onboard at launch. ]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8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i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raising $[ X ]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DF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 launch Via in [ City ] with 50 creators and 20 stays.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5110D"/>
          </a:solidFill>
          <a:ln w="9525">
            <a:solidFill>
              <a:srgbClr val="5248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D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polish, two-sided auth, payments, trust + safety.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30175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5110D"/>
          </a:solidFill>
          <a:ln w="9525">
            <a:solidFill>
              <a:srgbClr val="524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38912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Go-to-market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52044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D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Seeding the first 50 creators and 20 stays in the pilot city.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30175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15110D"/>
          </a:solidFill>
          <a:ln w="9525">
            <a:solidFill>
              <a:srgbClr val="524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315468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178040" y="3200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6E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Founding team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309360" y="36576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E4D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engineer, one creator-ops lead alongside the founder.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45262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DF8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Travel by way of trust.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486400" y="45720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4D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cierra@charmedcollectiveagency.com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Via — Travel by way of trust</dc:title>
  <dc:subject>Pre-seed pitch</dc:subject>
  <dc:creator>Via</dc:creator>
  <cp:lastModifiedBy>Via</cp:lastModifiedBy>
  <cp:revision>1</cp:revision>
  <dcterms:created xsi:type="dcterms:W3CDTF">2026-04-23T03:30:05Z</dcterms:created>
  <dcterms:modified xsi:type="dcterms:W3CDTF">2026-04-23T03:30:05Z</dcterms:modified>
</cp:coreProperties>
</file>